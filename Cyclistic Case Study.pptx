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8" r:id="rId7"/>
    <p:sldId id="266" r:id="rId8"/>
    <p:sldId id="261" r:id="rId9"/>
    <p:sldId id="267" r:id="rId10"/>
    <p:sldId id="262" r:id="rId11"/>
    <p:sldId id="263" r:id="rId12"/>
    <p:sldId id="264" r:id="rId13"/>
  </p:sldIdLst>
  <p:sldSz cx="12192000" cy="6858000"/>
  <p:notesSz cx="6858000" cy="9144000"/>
  <p:embeddedFontLst>
    <p:embeddedFont>
      <p:font typeface="Garamond" panose="02020404030301010803" pitchFamily="18" charset="0"/>
      <p:regular r:id="rId15"/>
      <p:bold r:id="rId16"/>
      <p:italic r:id="rId17"/>
    </p:embeddedFont>
    <p:embeddedFont>
      <p:font typeface="Helvetica Neue" panose="020B060402020202020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4" roundtripDataSignature="AMtx7mg9l0CgsVhl1RRK/BoI8SNz/Egd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fred Abraham" userId="22832f2a690b3ae8" providerId="LiveId" clId="{DC479923-5D2F-4FCB-B6FE-104D8DD67DD2}"/>
    <pc:docChg chg="undo custSel addSld delSld modSld">
      <pc:chgData name="Alfred Abraham" userId="22832f2a690b3ae8" providerId="LiveId" clId="{DC479923-5D2F-4FCB-B6FE-104D8DD67DD2}" dt="2026-10-16T17:54:44.814" v="8247" actId="20577"/>
      <pc:docMkLst>
        <pc:docMk/>
      </pc:docMkLst>
      <pc:sldChg chg="modSp mod">
        <pc:chgData name="Alfred Abraham" userId="22832f2a690b3ae8" providerId="LiveId" clId="{DC479923-5D2F-4FCB-B6FE-104D8DD67DD2}" dt="2026-10-16T17:54:44.814" v="8247" actId="20577"/>
        <pc:sldMkLst>
          <pc:docMk/>
          <pc:sldMk cId="0" sldId="258"/>
        </pc:sldMkLst>
        <pc:spChg chg="mod">
          <ac:chgData name="Alfred Abraham" userId="22832f2a690b3ae8" providerId="LiveId" clId="{DC479923-5D2F-4FCB-B6FE-104D8DD67DD2}" dt="2026-10-16T17:54:44.814" v="8247" actId="20577"/>
          <ac:spMkLst>
            <pc:docMk/>
            <pc:sldMk cId="0" sldId="258"/>
            <ac:spMk id="164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lfre_g2qn6y7\Downloads\Monthly%20Trip%20Graph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lfre_g2qn6y7\Downloads\Weekday%20Weekend%20Data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lfre_g2qn6y7\Downloads\Average%20Ride%20Length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lfre_g2qn6y7\Downloads\Bike%20Types%20Graph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lfre_g2qn6y7\Downloads\Ride%20Hour%20Data.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[Monthly Trip Graph.xlsx]Pivot Chart!PivotTable1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Number of Trips Per Month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'Pivot Chart'!$B$3:$B$4</c:f>
              <c:strCache>
                <c:ptCount val="1"/>
                <c:pt idx="0">
                  <c:v>casual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multiLvlStrRef>
              <c:f>'Pivot Chart'!$A$5:$A$28</c:f>
              <c:multiLvlStrCache>
                <c:ptCount val="12"/>
                <c:lvl>
                  <c:pt idx="0">
                    <c:v>January  </c:v>
                  </c:pt>
                  <c:pt idx="1">
                    <c:v>February </c:v>
                  </c:pt>
                  <c:pt idx="2">
                    <c:v>March    </c:v>
                  </c:pt>
                  <c:pt idx="3">
                    <c:v>April    </c:v>
                  </c:pt>
                  <c:pt idx="4">
                    <c:v>May      </c:v>
                  </c:pt>
                  <c:pt idx="5">
                    <c:v>June     </c:v>
                  </c:pt>
                  <c:pt idx="6">
                    <c:v>July     </c:v>
                  </c:pt>
                  <c:pt idx="7">
                    <c:v>August   </c:v>
                  </c:pt>
                  <c:pt idx="8">
                    <c:v>September</c:v>
                  </c:pt>
                  <c:pt idx="9">
                    <c:v>October  </c:v>
                  </c:pt>
                  <c:pt idx="10">
                    <c:v>November </c:v>
                  </c:pt>
                  <c:pt idx="11">
                    <c:v>December </c:v>
                  </c:pt>
                </c:lvl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</c:lvl>
              </c:multiLvlStrCache>
            </c:multiLvlStrRef>
          </c:cat>
          <c:val>
            <c:numRef>
              <c:f>'Pivot Chart'!$B$5:$B$28</c:f>
              <c:numCache>
                <c:formatCode>General</c:formatCode>
                <c:ptCount val="12"/>
                <c:pt idx="0">
                  <c:v>39309</c:v>
                </c:pt>
                <c:pt idx="1">
                  <c:v>42271</c:v>
                </c:pt>
                <c:pt idx="2">
                  <c:v>61013</c:v>
                </c:pt>
                <c:pt idx="3">
                  <c:v>144407</c:v>
                </c:pt>
                <c:pt idx="4">
                  <c:v>230267</c:v>
                </c:pt>
                <c:pt idx="5">
                  <c:v>296465</c:v>
                </c:pt>
                <c:pt idx="6">
                  <c:v>326403</c:v>
                </c:pt>
                <c:pt idx="7">
                  <c:v>306949</c:v>
                </c:pt>
                <c:pt idx="8">
                  <c:v>258223</c:v>
                </c:pt>
                <c:pt idx="9">
                  <c:v>174746</c:v>
                </c:pt>
                <c:pt idx="10">
                  <c:v>97181</c:v>
                </c:pt>
                <c:pt idx="11">
                  <c:v>51046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8B8-4B6F-92A8-132029BC435F}"/>
            </c:ext>
          </c:extLst>
        </c:ser>
        <c:ser>
          <c:idx val="1"/>
          <c:order val="1"/>
          <c:tx>
            <c:strRef>
              <c:f>'Pivot Chart'!$C$3:$C$4</c:f>
              <c:strCache>
                <c:ptCount val="1"/>
                <c:pt idx="0">
                  <c:v>member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multiLvlStrRef>
              <c:f>'Pivot Chart'!$A$5:$A$28</c:f>
              <c:multiLvlStrCache>
                <c:ptCount val="12"/>
                <c:lvl>
                  <c:pt idx="0">
                    <c:v>January  </c:v>
                  </c:pt>
                  <c:pt idx="1">
                    <c:v>February </c:v>
                  </c:pt>
                  <c:pt idx="2">
                    <c:v>March    </c:v>
                  </c:pt>
                  <c:pt idx="3">
                    <c:v>April    </c:v>
                  </c:pt>
                  <c:pt idx="4">
                    <c:v>May      </c:v>
                  </c:pt>
                  <c:pt idx="5">
                    <c:v>June     </c:v>
                  </c:pt>
                  <c:pt idx="6">
                    <c:v>July     </c:v>
                  </c:pt>
                  <c:pt idx="7">
                    <c:v>August   </c:v>
                  </c:pt>
                  <c:pt idx="8">
                    <c:v>September</c:v>
                  </c:pt>
                  <c:pt idx="9">
                    <c:v>October  </c:v>
                  </c:pt>
                  <c:pt idx="10">
                    <c:v>November </c:v>
                  </c:pt>
                  <c:pt idx="11">
                    <c:v>December </c:v>
                  </c:pt>
                </c:lvl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</c:lvl>
              </c:multiLvlStrCache>
            </c:multiLvlStrRef>
          </c:cat>
          <c:val>
            <c:numRef>
              <c:f>'Pivot Chart'!$C$5:$C$28</c:f>
              <c:numCache>
                <c:formatCode>General</c:formatCode>
                <c:ptCount val="12"/>
                <c:pt idx="0">
                  <c:v>147181</c:v>
                </c:pt>
                <c:pt idx="1">
                  <c:v>144392</c:v>
                </c:pt>
                <c:pt idx="2">
                  <c:v>191902</c:v>
                </c:pt>
                <c:pt idx="3">
                  <c:v>272946</c:v>
                </c:pt>
                <c:pt idx="4">
                  <c:v>363837</c:v>
                </c:pt>
                <c:pt idx="5">
                  <c:v>412029</c:v>
                </c:pt>
                <c:pt idx="6">
                  <c:v>429552</c:v>
                </c:pt>
                <c:pt idx="7">
                  <c:v>454022</c:v>
                </c:pt>
                <c:pt idx="8">
                  <c:v>399701</c:v>
                </c:pt>
                <c:pt idx="9">
                  <c:v>355646</c:v>
                </c:pt>
                <c:pt idx="10">
                  <c:v>261047</c:v>
                </c:pt>
                <c:pt idx="11">
                  <c:v>170392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8B8-4B6F-92A8-132029BC43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10947008"/>
        <c:axId val="1710952768"/>
      </c:lineChart>
      <c:catAx>
        <c:axId val="171094700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Month (Number and Name)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10952768"/>
        <c:crosses val="autoZero"/>
        <c:auto val="1"/>
        <c:lblAlgn val="ctr"/>
        <c:lblOffset val="100"/>
        <c:noMultiLvlLbl val="0"/>
      </c:catAx>
      <c:valAx>
        <c:axId val="1710952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Number of Trips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10947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[Weekday Weekend Data.xlsx]Pivot Chart!PivotTable1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Membership Status and</a:t>
            </a:r>
            <a:r>
              <a:rPr lang="en-US" baseline="0"/>
              <a:t> Weekly Bike Usage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'Pivot Chart'!$B$3:$B$4</c:f>
              <c:strCache>
                <c:ptCount val="1"/>
                <c:pt idx="0">
                  <c:v>Weekday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'Pivot Chart'!$A$5:$A$7</c:f>
              <c:strCache>
                <c:ptCount val="2"/>
                <c:pt idx="0">
                  <c:v>casual</c:v>
                </c:pt>
                <c:pt idx="1">
                  <c:v>member</c:v>
                </c:pt>
              </c:strCache>
            </c:strRef>
          </c:cat>
          <c:val>
            <c:numRef>
              <c:f>'Pivot Chart'!$B$5:$B$7</c:f>
              <c:numCache>
                <c:formatCode>General</c:formatCode>
                <c:ptCount val="2"/>
                <c:pt idx="0">
                  <c:v>1293023</c:v>
                </c:pt>
                <c:pt idx="1">
                  <c:v>2735197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23-47FE-B856-9A88D5942553}"/>
            </c:ext>
          </c:extLst>
        </c:ser>
        <c:ser>
          <c:idx val="1"/>
          <c:order val="1"/>
          <c:tx>
            <c:strRef>
              <c:f>'Pivot Chart'!$C$3:$C$4</c:f>
              <c:strCache>
                <c:ptCount val="1"/>
                <c:pt idx="0">
                  <c:v>Weekend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'Pivot Chart'!$A$5:$A$7</c:f>
              <c:strCache>
                <c:ptCount val="2"/>
                <c:pt idx="0">
                  <c:v>casual</c:v>
                </c:pt>
                <c:pt idx="1">
                  <c:v>member</c:v>
                </c:pt>
              </c:strCache>
            </c:strRef>
          </c:cat>
          <c:val>
            <c:numRef>
              <c:f>'Pivot Chart'!$C$5:$C$7</c:f>
              <c:numCache>
                <c:formatCode>General</c:formatCode>
                <c:ptCount val="2"/>
                <c:pt idx="0">
                  <c:v>735257</c:v>
                </c:pt>
                <c:pt idx="1">
                  <c:v>867450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023-47FE-B856-9A88D59425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125282031"/>
        <c:axId val="2125282511"/>
      </c:barChart>
      <c:catAx>
        <c:axId val="212528203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Membership Status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25282511"/>
        <c:crosses val="autoZero"/>
        <c:auto val="1"/>
        <c:lblAlgn val="ctr"/>
        <c:lblOffset val="100"/>
        <c:noMultiLvlLbl val="0"/>
      </c:catAx>
      <c:valAx>
        <c:axId val="21252825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Percent of Trips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252820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[Average Ride Length.xlsx]Pivot Chart!PivotTable1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Average Ride Length By Month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'Pivot Chart'!$B$3:$B$4</c:f>
              <c:strCache>
                <c:ptCount val="1"/>
                <c:pt idx="0">
                  <c:v>casual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multiLvlStrRef>
              <c:f>'Pivot Chart'!$A$5:$A$28</c:f>
              <c:multiLvlStrCache>
                <c:ptCount val="12"/>
                <c:lvl>
                  <c:pt idx="0">
                    <c:v>January  </c:v>
                  </c:pt>
                  <c:pt idx="1">
                    <c:v>February </c:v>
                  </c:pt>
                  <c:pt idx="2">
                    <c:v>March    </c:v>
                  </c:pt>
                  <c:pt idx="3">
                    <c:v>April    </c:v>
                  </c:pt>
                  <c:pt idx="4">
                    <c:v>May      </c:v>
                  </c:pt>
                  <c:pt idx="5">
                    <c:v>June     </c:v>
                  </c:pt>
                  <c:pt idx="6">
                    <c:v>July     </c:v>
                  </c:pt>
                  <c:pt idx="7">
                    <c:v>August   </c:v>
                  </c:pt>
                  <c:pt idx="8">
                    <c:v>September</c:v>
                  </c:pt>
                  <c:pt idx="9">
                    <c:v>October  </c:v>
                  </c:pt>
                  <c:pt idx="10">
                    <c:v>November </c:v>
                  </c:pt>
                  <c:pt idx="11">
                    <c:v>December </c:v>
                  </c:pt>
                </c:lvl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</c:lvl>
              </c:multiLvlStrCache>
            </c:multiLvlStrRef>
          </c:cat>
          <c:val>
            <c:numRef>
              <c:f>'Pivot Chart'!$B$5:$B$28</c:f>
              <c:numCache>
                <c:formatCode>0</c:formatCode>
                <c:ptCount val="12"/>
                <c:pt idx="0">
                  <c:v>23.324454959423999</c:v>
                </c:pt>
                <c:pt idx="1">
                  <c:v>23.596437273781</c:v>
                </c:pt>
                <c:pt idx="2">
                  <c:v>21.829659252946001</c:v>
                </c:pt>
                <c:pt idx="3">
                  <c:v>28.224012686365601</c:v>
                </c:pt>
                <c:pt idx="4">
                  <c:v>29.0048074626411</c:v>
                </c:pt>
                <c:pt idx="5">
                  <c:v>29.879118951646898</c:v>
                </c:pt>
                <c:pt idx="6">
                  <c:v>32.824603327787997</c:v>
                </c:pt>
                <c:pt idx="7">
                  <c:v>35.723996494531598</c:v>
                </c:pt>
                <c:pt idx="8">
                  <c:v>25.517308682805101</c:v>
                </c:pt>
                <c:pt idx="9">
                  <c:v>23.175763679855301</c:v>
                </c:pt>
                <c:pt idx="10">
                  <c:v>20.1412930511108</c:v>
                </c:pt>
                <c:pt idx="11">
                  <c:v>20.181444187595499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EE-40DA-8A1B-7B7C5DB913CC}"/>
            </c:ext>
          </c:extLst>
        </c:ser>
        <c:ser>
          <c:idx val="1"/>
          <c:order val="1"/>
          <c:tx>
            <c:strRef>
              <c:f>'Pivot Chart'!$C$3:$C$4</c:f>
              <c:strCache>
                <c:ptCount val="1"/>
                <c:pt idx="0">
                  <c:v>member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multiLvlStrRef>
              <c:f>'Pivot Chart'!$A$5:$A$28</c:f>
              <c:multiLvlStrCache>
                <c:ptCount val="12"/>
                <c:lvl>
                  <c:pt idx="0">
                    <c:v>January  </c:v>
                  </c:pt>
                  <c:pt idx="1">
                    <c:v>February </c:v>
                  </c:pt>
                  <c:pt idx="2">
                    <c:v>March    </c:v>
                  </c:pt>
                  <c:pt idx="3">
                    <c:v>April    </c:v>
                  </c:pt>
                  <c:pt idx="4">
                    <c:v>May      </c:v>
                  </c:pt>
                  <c:pt idx="5">
                    <c:v>June     </c:v>
                  </c:pt>
                  <c:pt idx="6">
                    <c:v>July     </c:v>
                  </c:pt>
                  <c:pt idx="7">
                    <c:v>August   </c:v>
                  </c:pt>
                  <c:pt idx="8">
                    <c:v>September</c:v>
                  </c:pt>
                  <c:pt idx="9">
                    <c:v>October  </c:v>
                  </c:pt>
                  <c:pt idx="10">
                    <c:v>November </c:v>
                  </c:pt>
                  <c:pt idx="11">
                    <c:v>December </c:v>
                  </c:pt>
                </c:lvl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</c:lvl>
              </c:multiLvlStrCache>
            </c:multiLvlStrRef>
          </c:cat>
          <c:val>
            <c:numRef>
              <c:f>'Pivot Chart'!$C$5:$C$28</c:f>
              <c:numCache>
                <c:formatCode>0</c:formatCode>
                <c:ptCount val="12"/>
                <c:pt idx="0">
                  <c:v>10.5809717286878</c:v>
                </c:pt>
                <c:pt idx="1">
                  <c:v>10.940010526898901</c:v>
                </c:pt>
                <c:pt idx="2">
                  <c:v>10.6914362539212</c:v>
                </c:pt>
                <c:pt idx="3">
                  <c:v>11.9660628842335</c:v>
                </c:pt>
                <c:pt idx="4">
                  <c:v>13.283500578555699</c:v>
                </c:pt>
                <c:pt idx="5">
                  <c:v>13.404512789148299</c:v>
                </c:pt>
                <c:pt idx="6">
                  <c:v>13.9062162439006</c:v>
                </c:pt>
                <c:pt idx="7">
                  <c:v>13.9698825167062</c:v>
                </c:pt>
                <c:pt idx="8">
                  <c:v>13.3101743553306</c:v>
                </c:pt>
                <c:pt idx="9">
                  <c:v>12.3010718523475</c:v>
                </c:pt>
                <c:pt idx="10">
                  <c:v>11.709546556750301</c:v>
                </c:pt>
                <c:pt idx="11">
                  <c:v>11.5828677402694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4EE-40DA-8A1B-7B7C5DB913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23400032"/>
        <c:axId val="823400992"/>
      </c:lineChart>
      <c:catAx>
        <c:axId val="82340003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Month Name</a:t>
                </a:r>
                <a:r>
                  <a:rPr lang="en-US" baseline="0"/>
                  <a:t> and Number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23400992"/>
        <c:crosses val="autoZero"/>
        <c:auto val="1"/>
        <c:lblAlgn val="ctr"/>
        <c:lblOffset val="100"/>
        <c:noMultiLvlLbl val="0"/>
      </c:catAx>
      <c:valAx>
        <c:axId val="8234009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Ridel Length (Minutes)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234000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[Bike Types Graph.xlsx]Pivot Chart!PivotTable2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Bike</a:t>
            </a:r>
            <a:r>
              <a:rPr lang="en-US" baseline="0"/>
              <a:t> Type by Membership Status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'Pivot Chart'!$B$3:$B$4</c:f>
              <c:strCache>
                <c:ptCount val="1"/>
                <c:pt idx="0">
                  <c:v>classic_bike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'Pivot Chart'!$A$5:$A$7</c:f>
              <c:strCache>
                <c:ptCount val="2"/>
                <c:pt idx="0">
                  <c:v>casual</c:v>
                </c:pt>
                <c:pt idx="1">
                  <c:v>member</c:v>
                </c:pt>
              </c:strCache>
            </c:strRef>
          </c:cat>
          <c:val>
            <c:numRef>
              <c:f>'Pivot Chart'!$B$5:$B$7</c:f>
              <c:numCache>
                <c:formatCode>General</c:formatCode>
                <c:ptCount val="2"/>
                <c:pt idx="0">
                  <c:v>870140</c:v>
                </c:pt>
                <c:pt idx="1">
                  <c:v>1801660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57-4408-A812-164F37AE50DB}"/>
            </c:ext>
          </c:extLst>
        </c:ser>
        <c:ser>
          <c:idx val="1"/>
          <c:order val="1"/>
          <c:tx>
            <c:strRef>
              <c:f>'Pivot Chart'!$C$3:$C$4</c:f>
              <c:strCache>
                <c:ptCount val="1"/>
                <c:pt idx="0">
                  <c:v>docked_bike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'Pivot Chart'!$A$5:$A$7</c:f>
              <c:strCache>
                <c:ptCount val="2"/>
                <c:pt idx="0">
                  <c:v>casual</c:v>
                </c:pt>
                <c:pt idx="1">
                  <c:v>member</c:v>
                </c:pt>
              </c:strCache>
            </c:strRef>
          </c:cat>
          <c:val>
            <c:numRef>
              <c:f>'Pivot Chart'!$C$5:$C$7</c:f>
              <c:numCache>
                <c:formatCode>General</c:formatCode>
                <c:ptCount val="2"/>
                <c:pt idx="0">
                  <c:v>77854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957-4408-A812-164F37AE50DB}"/>
            </c:ext>
          </c:extLst>
        </c:ser>
        <c:ser>
          <c:idx val="2"/>
          <c:order val="2"/>
          <c:tx>
            <c:strRef>
              <c:f>'Pivot Chart'!$D$3:$D$4</c:f>
              <c:strCache>
                <c:ptCount val="1"/>
                <c:pt idx="0">
                  <c:v>electric_bike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'Pivot Chart'!$A$5:$A$7</c:f>
              <c:strCache>
                <c:ptCount val="2"/>
                <c:pt idx="0">
                  <c:v>casual</c:v>
                </c:pt>
                <c:pt idx="1">
                  <c:v>member</c:v>
                </c:pt>
              </c:strCache>
            </c:strRef>
          </c:cat>
          <c:val>
            <c:numRef>
              <c:f>'Pivot Chart'!$D$5:$D$7</c:f>
              <c:numCache>
                <c:formatCode>General</c:formatCode>
                <c:ptCount val="2"/>
                <c:pt idx="0">
                  <c:v>1080286</c:v>
                </c:pt>
                <c:pt idx="1">
                  <c:v>1800987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957-4408-A812-164F37AE50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968683008"/>
        <c:axId val="968676768"/>
      </c:barChart>
      <c:catAx>
        <c:axId val="96868300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Membership</a:t>
                </a:r>
                <a:r>
                  <a:rPr lang="en-US" baseline="0"/>
                  <a:t> Status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68676768"/>
        <c:crosses val="autoZero"/>
        <c:auto val="1"/>
        <c:lblAlgn val="ctr"/>
        <c:lblOffset val="100"/>
        <c:noMultiLvlLbl val="0"/>
      </c:catAx>
      <c:valAx>
        <c:axId val="968676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Percent of Trips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6868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[Ride Hour Data..xlsx]Pivot Chart!PivotTable1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Number of Trips Per Hour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'Pivot Chart'!$B$3:$B$4</c:f>
              <c:strCache>
                <c:ptCount val="1"/>
                <c:pt idx="0">
                  <c:v>casual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'Pivot Chart'!$A$5:$A$28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'Pivot Chart'!$B$5:$B$28</c:f>
              <c:numCache>
                <c:formatCode>General</c:formatCode>
                <c:ptCount val="24"/>
                <c:pt idx="0">
                  <c:v>36259</c:v>
                </c:pt>
                <c:pt idx="1">
                  <c:v>23473</c:v>
                </c:pt>
                <c:pt idx="2">
                  <c:v>14188</c:v>
                </c:pt>
                <c:pt idx="3">
                  <c:v>7813</c:v>
                </c:pt>
                <c:pt idx="4">
                  <c:v>5873</c:v>
                </c:pt>
                <c:pt idx="5">
                  <c:v>11271</c:v>
                </c:pt>
                <c:pt idx="6">
                  <c:v>29733</c:v>
                </c:pt>
                <c:pt idx="7">
                  <c:v>52267</c:v>
                </c:pt>
                <c:pt idx="8">
                  <c:v>69737</c:v>
                </c:pt>
                <c:pt idx="9">
                  <c:v>69027</c:v>
                </c:pt>
                <c:pt idx="10">
                  <c:v>85449</c:v>
                </c:pt>
                <c:pt idx="11">
                  <c:v>109011</c:v>
                </c:pt>
                <c:pt idx="12">
                  <c:v>128963</c:v>
                </c:pt>
                <c:pt idx="13">
                  <c:v>134632</c:v>
                </c:pt>
                <c:pt idx="14">
                  <c:v>140548</c:v>
                </c:pt>
                <c:pt idx="15">
                  <c:v>156918</c:v>
                </c:pt>
                <c:pt idx="16">
                  <c:v>179773</c:v>
                </c:pt>
                <c:pt idx="17">
                  <c:v>196240</c:v>
                </c:pt>
                <c:pt idx="18">
                  <c:v>169569</c:v>
                </c:pt>
                <c:pt idx="19">
                  <c:v>125270</c:v>
                </c:pt>
                <c:pt idx="20">
                  <c:v>90519</c:v>
                </c:pt>
                <c:pt idx="21">
                  <c:v>76024</c:v>
                </c:pt>
                <c:pt idx="22">
                  <c:v>67276</c:v>
                </c:pt>
                <c:pt idx="23">
                  <c:v>48447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AAF-4CF8-8C85-000F2ACDED16}"/>
            </c:ext>
          </c:extLst>
        </c:ser>
        <c:ser>
          <c:idx val="1"/>
          <c:order val="1"/>
          <c:tx>
            <c:strRef>
              <c:f>'Pivot Chart'!$C$3:$C$4</c:f>
              <c:strCache>
                <c:ptCount val="1"/>
                <c:pt idx="0">
                  <c:v>member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'Pivot Chart'!$A$5:$A$28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'Pivot Chart'!$C$5:$C$28</c:f>
              <c:numCache>
                <c:formatCode>General</c:formatCode>
                <c:ptCount val="24"/>
                <c:pt idx="0">
                  <c:v>34899</c:v>
                </c:pt>
                <c:pt idx="1">
                  <c:v>20779</c:v>
                </c:pt>
                <c:pt idx="2">
                  <c:v>12032</c:v>
                </c:pt>
                <c:pt idx="3">
                  <c:v>7824</c:v>
                </c:pt>
                <c:pt idx="4">
                  <c:v>8639</c:v>
                </c:pt>
                <c:pt idx="5">
                  <c:v>33604</c:v>
                </c:pt>
                <c:pt idx="6">
                  <c:v>103646</c:v>
                </c:pt>
                <c:pt idx="7">
                  <c:v>191831</c:v>
                </c:pt>
                <c:pt idx="8">
                  <c:v>240667</c:v>
                </c:pt>
                <c:pt idx="9">
                  <c:v>162340</c:v>
                </c:pt>
                <c:pt idx="10">
                  <c:v>146431</c:v>
                </c:pt>
                <c:pt idx="11">
                  <c:v>173636</c:v>
                </c:pt>
                <c:pt idx="12">
                  <c:v>196730</c:v>
                </c:pt>
                <c:pt idx="13">
                  <c:v>195562</c:v>
                </c:pt>
                <c:pt idx="14">
                  <c:v>198534</c:v>
                </c:pt>
                <c:pt idx="15">
                  <c:v>242697</c:v>
                </c:pt>
                <c:pt idx="16">
                  <c:v>326430</c:v>
                </c:pt>
                <c:pt idx="17">
                  <c:v>381846</c:v>
                </c:pt>
                <c:pt idx="18">
                  <c:v>302874</c:v>
                </c:pt>
                <c:pt idx="19">
                  <c:v>214425</c:v>
                </c:pt>
                <c:pt idx="20">
                  <c:v>149316</c:v>
                </c:pt>
                <c:pt idx="21">
                  <c:v>115924</c:v>
                </c:pt>
                <c:pt idx="22">
                  <c:v>86520</c:v>
                </c:pt>
                <c:pt idx="23">
                  <c:v>55461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AAF-4CF8-8C85-000F2ACDED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12688992"/>
        <c:axId val="612689952"/>
      </c:lineChart>
      <c:catAx>
        <c:axId val="61268899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Hour of</a:t>
                </a:r>
                <a:r>
                  <a:rPr lang="en-US" baseline="0"/>
                  <a:t> Day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2689952"/>
        <c:crosses val="autoZero"/>
        <c:auto val="1"/>
        <c:lblAlgn val="ctr"/>
        <c:lblOffset val="100"/>
        <c:noMultiLvlLbl val="0"/>
      </c:catAx>
      <c:valAx>
        <c:axId val="6126899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Number of</a:t>
                </a:r>
                <a:r>
                  <a:rPr lang="en-US" baseline="0"/>
                  <a:t> Trips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26889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17;p11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8" name="Google Shape;18;p11" descr="HD-PanelTitleR1.png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0" y="0"/>
              <a:ext cx="12188825" cy="6856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" name="Google Shape;19;p11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0" name="Google Shape;20;p11" descr="HDRibbonTitle-UniformTrim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11" descr="HDRibbonTitle-UniformTrim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" name="Google Shape;22;p11"/>
          <p:cNvSpPr txBox="1"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Garamond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1"/>
          <p:cNvSpPr txBox="1"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420"/>
              </a:spcBef>
              <a:spcAft>
                <a:spcPts val="0"/>
              </a:spcAft>
              <a:buSzPts val="241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23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207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84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61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11"/>
          <p:cNvSpPr txBox="1">
            <a:spLocks noGrp="1"/>
          </p:cNvSpPr>
          <p:nvPr>
            <p:ph type="dt" idx="10"/>
          </p:nvPr>
        </p:nvSpPr>
        <p:spPr>
          <a:xfrm>
            <a:off x="7983232" y="5037663"/>
            <a:ext cx="89746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1"/>
          <p:cNvSpPr txBox="1">
            <a:spLocks noGrp="1"/>
          </p:cNvSpPr>
          <p:nvPr>
            <p:ph type="ftr" idx="11"/>
          </p:nvPr>
        </p:nvSpPr>
        <p:spPr>
          <a:xfrm>
            <a:off x="2692397" y="5037663"/>
            <a:ext cx="5214635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1"/>
          <p:cNvSpPr txBox="1">
            <a:spLocks noGrp="1"/>
          </p:cNvSpPr>
          <p:nvPr>
            <p:ph type="sldNum" idx="12"/>
          </p:nvPr>
        </p:nvSpPr>
        <p:spPr>
          <a:xfrm>
            <a:off x="8956900" y="5037663"/>
            <a:ext cx="55116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7" name="Google Shape;27;p11"/>
          <p:cNvCxnSpPr/>
          <p:nvPr/>
        </p:nvCxnSpPr>
        <p:spPr>
          <a:xfrm>
            <a:off x="2692399" y="3522131"/>
            <a:ext cx="681566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12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0;p12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2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2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3"/>
          <p:cNvSpPr txBox="1"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3"/>
          <p:cNvSpPr txBox="1"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480"/>
              </a:spcBef>
              <a:spcAft>
                <a:spcPts val="0"/>
              </a:spcAft>
              <a:buSzPts val="276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1" name="Google Shape;41;p13"/>
          <p:cNvCxnSpPr/>
          <p:nvPr/>
        </p:nvCxnSpPr>
        <p:spPr>
          <a:xfrm>
            <a:off x="2012723" y="3710585"/>
            <a:ext cx="8163380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Google Shape;43;p14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14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4"/>
          <p:cNvSpPr txBox="1">
            <a:spLocks noGrp="1"/>
          </p:cNvSpPr>
          <p:nvPr>
            <p:ph type="body" idx="1"/>
          </p:nvPr>
        </p:nvSpPr>
        <p:spPr>
          <a:xfrm>
            <a:off x="1298448" y="2560320"/>
            <a:ext cx="4718304" cy="3310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body" idx="2"/>
          </p:nvPr>
        </p:nvSpPr>
        <p:spPr>
          <a:xfrm>
            <a:off x="6181344" y="2560320"/>
            <a:ext cx="4718304" cy="3310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5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672"/>
              </a:spcBef>
              <a:spcAft>
                <a:spcPts val="0"/>
              </a:spcAft>
              <a:buSzPts val="3220"/>
              <a:buNone/>
              <a:defRPr sz="2800" b="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3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840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body" idx="2"/>
          </p:nvPr>
        </p:nvSpPr>
        <p:spPr>
          <a:xfrm>
            <a:off x="1295400" y="3243262"/>
            <a:ext cx="4718304" cy="2632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15"/>
          <p:cNvSpPr txBox="1">
            <a:spLocks noGrp="1"/>
          </p:cNvSpPr>
          <p:nvPr>
            <p:ph type="body" idx="3"/>
          </p:nvPr>
        </p:nvSpPr>
        <p:spPr>
          <a:xfrm>
            <a:off x="6180670" y="2658533"/>
            <a:ext cx="4718304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672"/>
              </a:spcBef>
              <a:spcAft>
                <a:spcPts val="0"/>
              </a:spcAft>
              <a:buSzPts val="3220"/>
              <a:buNone/>
              <a:defRPr sz="2800" b="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3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840"/>
              <a:buNone/>
              <a:defRPr sz="1600" b="1"/>
            </a:lvl9pPr>
          </a:lstStyle>
          <a:p>
            <a:endParaRPr/>
          </a:p>
        </p:txBody>
      </p:sp>
      <p:sp>
        <p:nvSpPr>
          <p:cNvPr id="55" name="Google Shape;55;p15"/>
          <p:cNvSpPr txBox="1">
            <a:spLocks noGrp="1"/>
          </p:cNvSpPr>
          <p:nvPr>
            <p:ph type="body" idx="4"/>
          </p:nvPr>
        </p:nvSpPr>
        <p:spPr>
          <a:xfrm>
            <a:off x="6180670" y="3243262"/>
            <a:ext cx="4718304" cy="2632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9" name="Google Shape;59;p15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5" name="Google Shape;65;p16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Garamond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body" idx="1"/>
          </p:nvPr>
        </p:nvSpPr>
        <p:spPr>
          <a:xfrm>
            <a:off x="5418668" y="982131"/>
            <a:ext cx="5469466" cy="4893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body" idx="2"/>
          </p:nvPr>
        </p:nvSpPr>
        <p:spPr>
          <a:xfrm>
            <a:off x="1293811" y="3031065"/>
            <a:ext cx="3718455" cy="2438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320"/>
              </a:spcBef>
              <a:spcAft>
                <a:spcPts val="0"/>
              </a:spcAft>
              <a:buSzPts val="1840"/>
              <a:buNone/>
              <a:defRPr sz="16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7" name="Google Shape;77;p18"/>
          <p:cNvCxnSpPr/>
          <p:nvPr/>
        </p:nvCxnSpPr>
        <p:spPr>
          <a:xfrm>
            <a:off x="1396169" y="2912533"/>
            <a:ext cx="35144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aramond"/>
              <a:buNone/>
              <a:defRPr sz="28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>
            <a:spLocks noGrp="1"/>
          </p:cNvSpPr>
          <p:nvPr>
            <p:ph type="pic" idx="2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noFill/>
          <a:ln w="57150" cap="flat" cmpd="thickThin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1" name="Google Shape;81;p19"/>
          <p:cNvSpPr txBox="1">
            <a:spLocks noGrp="1"/>
          </p:cNvSpPr>
          <p:nvPr>
            <p:ph type="body" idx="1"/>
          </p:nvPr>
        </p:nvSpPr>
        <p:spPr>
          <a:xfrm>
            <a:off x="1295399" y="3255432"/>
            <a:ext cx="6241816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360"/>
              </a:spcBef>
              <a:spcAft>
                <a:spcPts val="0"/>
              </a:spcAft>
              <a:buSzPts val="2070"/>
              <a:buNone/>
              <a:defRPr sz="18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9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0"/>
          <p:cNvSpPr txBox="1"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Garamond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0"/>
          <p:cNvSpPr>
            <a:spLocks noGrp="1"/>
          </p:cNvSpPr>
          <p:nvPr>
            <p:ph type="pic" idx="2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noFill/>
          <a:ln w="57150" cap="flat" cmpd="thickThin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8" name="Google Shape;88;p20"/>
          <p:cNvSpPr txBox="1">
            <a:spLocks noGrp="1"/>
          </p:cNvSpPr>
          <p:nvPr>
            <p:ph type="body" idx="1"/>
          </p:nvPr>
        </p:nvSpPr>
        <p:spPr>
          <a:xfrm>
            <a:off x="1295401" y="5382153"/>
            <a:ext cx="9609666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280"/>
              </a:spcBef>
              <a:spcAft>
                <a:spcPts val="0"/>
              </a:spcAft>
              <a:buSzPts val="1610"/>
              <a:buNone/>
              <a:defRPr sz="14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>
            <a:endParaRPr/>
          </a:p>
        </p:txBody>
      </p:sp>
      <p:sp>
        <p:nvSpPr>
          <p:cNvPr id="89" name="Google Shape;89;p20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0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0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Garamond"/>
              <a:buNone/>
              <a:defRPr sz="32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1"/>
          <p:cNvSpPr txBox="1"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21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1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1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8" name="Google Shape;98;p21"/>
          <p:cNvCxnSpPr/>
          <p:nvPr/>
        </p:nvCxnSpPr>
        <p:spPr>
          <a:xfrm>
            <a:off x="1396169" y="4140199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2"/>
          <p:cNvSpPr txBox="1"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ramond"/>
              <a:buNone/>
              <a:defRPr sz="3200" b="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2"/>
          <p:cNvSpPr txBox="1">
            <a:spLocks noGrp="1"/>
          </p:cNvSpPr>
          <p:nvPr>
            <p:ph type="body" idx="1"/>
          </p:nvPr>
        </p:nvSpPr>
        <p:spPr>
          <a:xfrm>
            <a:off x="1674812" y="3352800"/>
            <a:ext cx="8839202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spcBef>
                <a:spcPts val="400"/>
              </a:spcBef>
              <a:spcAft>
                <a:spcPts val="0"/>
              </a:spcAft>
              <a:buSzPts val="2300"/>
              <a:buFont typeface="Garamond"/>
              <a:buNone/>
              <a:defRPr sz="20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300"/>
              <a:buFont typeface="Garamond"/>
              <a:buNone/>
              <a:defRPr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2070"/>
              <a:buFont typeface="Garamond"/>
              <a:buNone/>
              <a:defRPr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840"/>
              <a:buFont typeface="Garamond"/>
              <a:buNone/>
              <a:defRPr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Font typeface="Garamond"/>
              <a:buNone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22"/>
          <p:cNvSpPr txBox="1">
            <a:spLocks noGrp="1"/>
          </p:cNvSpPr>
          <p:nvPr>
            <p:ph type="body" idx="2"/>
          </p:nvPr>
        </p:nvSpPr>
        <p:spPr>
          <a:xfrm>
            <a:off x="1295401" y="4343399"/>
            <a:ext cx="9609666" cy="1532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3" name="Google Shape;103;p22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2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2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" name="Google Shape;106;p22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“</a:t>
            </a:r>
            <a:endParaRPr/>
          </a:p>
        </p:txBody>
      </p:sp>
      <p:sp>
        <p:nvSpPr>
          <p:cNvPr id="107" name="Google Shape;107;p22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”</a:t>
            </a:r>
            <a:endParaRPr/>
          </a:p>
        </p:txBody>
      </p:sp>
      <p:cxnSp>
        <p:nvCxnSpPr>
          <p:cNvPr id="108" name="Google Shape;108;p22"/>
          <p:cNvCxnSpPr/>
          <p:nvPr/>
        </p:nvCxnSpPr>
        <p:spPr>
          <a:xfrm>
            <a:off x="1396169" y="4140199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3"/>
          <p:cNvSpPr txBox="1"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Garamond"/>
              <a:buNone/>
              <a:defRPr sz="32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3"/>
          <p:cNvSpPr txBox="1"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2" name="Google Shape;112;p23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3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3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Name Card">
  <p:cSld name="Quote Name Card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4"/>
          <p:cNvSpPr txBox="1"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ramond"/>
              <a:buNone/>
              <a:defRPr sz="3200" b="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4"/>
          <p:cNvSpPr txBox="1">
            <a:spLocks noGrp="1"/>
          </p:cNvSpPr>
          <p:nvPr>
            <p:ph type="body" idx="1"/>
          </p:nvPr>
        </p:nvSpPr>
        <p:spPr>
          <a:xfrm>
            <a:off x="1295401" y="3639312"/>
            <a:ext cx="9609668" cy="886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276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8" name="Google Shape;118;p24"/>
          <p:cNvSpPr txBox="1">
            <a:spLocks noGrp="1"/>
          </p:cNvSpPr>
          <p:nvPr>
            <p:ph type="body" idx="2"/>
          </p:nvPr>
        </p:nvSpPr>
        <p:spPr>
          <a:xfrm>
            <a:off x="1295401" y="4529667"/>
            <a:ext cx="9609668" cy="1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207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9" name="Google Shape;119;p24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4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2" name="Google Shape;122;p24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“</a:t>
            </a:r>
            <a:endParaRPr/>
          </a:p>
        </p:txBody>
      </p:sp>
      <p:sp>
        <p:nvSpPr>
          <p:cNvPr id="123" name="Google Shape;123;p24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”</a:t>
            </a:r>
            <a:endParaRPr/>
          </a:p>
        </p:txBody>
      </p:sp>
      <p:cxnSp>
        <p:nvCxnSpPr>
          <p:cNvPr id="124" name="Google Shape;124;p24"/>
          <p:cNvCxnSpPr/>
          <p:nvPr/>
        </p:nvCxnSpPr>
        <p:spPr>
          <a:xfrm>
            <a:off x="1396169" y="3429000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5"/>
          <p:cNvSpPr txBox="1">
            <a:spLocks noGrp="1"/>
          </p:cNvSpPr>
          <p:nvPr>
            <p:ph type="body" idx="1"/>
          </p:nvPr>
        </p:nvSpPr>
        <p:spPr>
          <a:xfrm>
            <a:off x="1295401" y="3630168"/>
            <a:ext cx="9609668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3220"/>
              <a:buNone/>
              <a:defRPr sz="28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8" name="Google Shape;128;p25"/>
          <p:cNvSpPr txBox="1">
            <a:spLocks noGrp="1"/>
          </p:cNvSpPr>
          <p:nvPr>
            <p:ph type="body" idx="2"/>
          </p:nvPr>
        </p:nvSpPr>
        <p:spPr>
          <a:xfrm>
            <a:off x="1295400" y="4470399"/>
            <a:ext cx="9609670" cy="140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207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9" name="Google Shape;129;p25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5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5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2" name="Google Shape;132;p25"/>
          <p:cNvCxnSpPr/>
          <p:nvPr/>
        </p:nvCxnSpPr>
        <p:spPr>
          <a:xfrm>
            <a:off x="1396169" y="3429000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6"/>
          <p:cNvSpPr txBox="1">
            <a:spLocks noGrp="1"/>
          </p:cNvSpPr>
          <p:nvPr>
            <p:ph type="body" idx="1"/>
          </p:nvPr>
        </p:nvSpPr>
        <p:spPr>
          <a:xfrm rot="5400000">
            <a:off x="4436531" y="-584198"/>
            <a:ext cx="3318936" cy="9601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26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26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6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9" name="Google Shape;139;p26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>
            <a:spLocks noGrp="1"/>
          </p:cNvSpPr>
          <p:nvPr>
            <p:ph type="title"/>
          </p:nvPr>
        </p:nvSpPr>
        <p:spPr>
          <a:xfrm rot="5400000">
            <a:off x="7497936" y="2483551"/>
            <a:ext cx="4893735" cy="1890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7"/>
          <p:cNvSpPr txBox="1">
            <a:spLocks noGrp="1"/>
          </p:cNvSpPr>
          <p:nvPr>
            <p:ph type="body" idx="1"/>
          </p:nvPr>
        </p:nvSpPr>
        <p:spPr>
          <a:xfrm rot="5400000">
            <a:off x="2565043" y="-287514"/>
            <a:ext cx="4893734" cy="7433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p27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7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7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46" name="Google Shape;146;p27"/>
          <p:cNvCxnSpPr/>
          <p:nvPr/>
        </p:nvCxnSpPr>
        <p:spPr>
          <a:xfrm>
            <a:off x="8863890" y="990600"/>
            <a:ext cx="0" cy="487680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9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0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7" name="Google Shape;7;p10" descr="HD-PanelContent.png"/>
            <p:cNvPicPr preferRelativeResize="0"/>
            <p:nvPr/>
          </p:nvPicPr>
          <p:blipFill rotWithShape="1">
            <a:blip r:embed="rId20">
              <a:alphaModFix/>
            </a:blip>
            <a:srcRect/>
            <a:stretch/>
          </p:blipFill>
          <p:spPr>
            <a:xfrm>
              <a:off x="0" y="0"/>
              <a:ext cx="12188825" cy="6856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Google Shape;8;p10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" name="Google Shape;9;p10" descr="HDRibbonContent-UniformTrim.png"/>
            <p:cNvPicPr preferRelativeResize="0"/>
            <p:nvPr/>
          </p:nvPicPr>
          <p:blipFill rotWithShape="1">
            <a:blip r:embed="rId21">
              <a:alphaModFix/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10;p10" descr="HDRibbonContent-UniformTrim.png"/>
            <p:cNvPicPr preferRelativeResize="0"/>
            <p:nvPr/>
          </p:nvPicPr>
          <p:blipFill rotWithShape="1">
            <a:blip r:embed="rId21">
              <a:alphaModFix/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" name="Google Shape;11;p10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sz="4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386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760"/>
              <a:buFont typeface="Arial"/>
              <a:buChar char="•"/>
              <a:defRPr sz="2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914400" marR="0" lvl="1" indent="-37465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Arial"/>
              <a:buChar char="•"/>
              <a:defRPr sz="20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1371600" marR="0" lvl="2" indent="-360044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70"/>
              <a:buFont typeface="Arial"/>
              <a:buChar char="•"/>
              <a:defRPr sz="18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1828800" marR="0" lvl="3" indent="-345439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2286000" marR="0" lvl="4" indent="-330835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2743200" marR="0" lvl="5" indent="-330835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3200400" marR="0" lvl="6" indent="-330835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3657600" marR="0" lvl="7" indent="-330834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4114800" marR="0" lvl="8" indent="-330834" algn="l" rtl="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15" name="Google Shape;15;p10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divvy-tripdata.s3.amazonaws.com/202306-divvy-tripdata.zip" TargetMode="External"/><Relationship Id="rId13" Type="http://schemas.openxmlformats.org/officeDocument/2006/relationships/hyperlink" Target="https://divvy-tripdata.s3.amazonaws.com/202311-divvy-tripdata.zip" TargetMode="External"/><Relationship Id="rId3" Type="http://schemas.openxmlformats.org/officeDocument/2006/relationships/hyperlink" Target="https://divvy-tripdata.s3.amazonaws.com/202301-divvy-tripdata.zip" TargetMode="External"/><Relationship Id="rId7" Type="http://schemas.openxmlformats.org/officeDocument/2006/relationships/hyperlink" Target="https://divvy-tripdata.s3.amazonaws.com/202305-divvy-tripdata.zip" TargetMode="External"/><Relationship Id="rId12" Type="http://schemas.openxmlformats.org/officeDocument/2006/relationships/hyperlink" Target="https://divvy-tripdata.s3.amazonaws.com/202310-divvy-tripdata.zip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ivvy-tripdata.s3.amazonaws.com/202304-divvy-tripdata.zip" TargetMode="External"/><Relationship Id="rId11" Type="http://schemas.openxmlformats.org/officeDocument/2006/relationships/hyperlink" Target="https://divvy-tripdata.s3.amazonaws.com/202309-divvy-tripdata.zip" TargetMode="External"/><Relationship Id="rId5" Type="http://schemas.openxmlformats.org/officeDocument/2006/relationships/hyperlink" Target="https://divvy-tripdata.s3.amazonaws.com/202303-divvy-tripdata.zip" TargetMode="External"/><Relationship Id="rId10" Type="http://schemas.openxmlformats.org/officeDocument/2006/relationships/hyperlink" Target="https://divvy-tripdata.s3.amazonaws.com/202308-divvy-tripdata.zip" TargetMode="External"/><Relationship Id="rId4" Type="http://schemas.openxmlformats.org/officeDocument/2006/relationships/hyperlink" Target="https://divvy-tripdata.s3.amazonaws.com/202302-divvy-tripdata.zip" TargetMode="External"/><Relationship Id="rId9" Type="http://schemas.openxmlformats.org/officeDocument/2006/relationships/hyperlink" Target="https://divvy-tripdata.s3.amazonaws.com/202307-divvy-tripdata.zip" TargetMode="External"/><Relationship Id="rId14" Type="http://schemas.openxmlformats.org/officeDocument/2006/relationships/hyperlink" Target="https://divvy-tripdata.s3.amazonaws.com/202312-divvy-tripdata.zi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"/>
          <p:cNvSpPr txBox="1"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Garamond"/>
              <a:buNone/>
            </a:pPr>
            <a:r>
              <a:rPr lang="en-US"/>
              <a:t>Cyclistic Case Study</a:t>
            </a:r>
            <a:endParaRPr/>
          </a:p>
        </p:txBody>
      </p:sp>
      <p:sp>
        <p:nvSpPr>
          <p:cNvPr id="152" name="Google Shape;152;p1"/>
          <p:cNvSpPr txBox="1"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2415"/>
              <a:buNone/>
            </a:pPr>
            <a:r>
              <a:rPr lang="en-US"/>
              <a:t>By: Alfred Abraham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158" name="Google Shape;158;p2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2070"/>
              <a:buChar char="•"/>
            </a:pPr>
            <a:r>
              <a:rPr lang="en-US" sz="1800" dirty="0" err="1"/>
              <a:t>Cyclistic</a:t>
            </a:r>
            <a:r>
              <a:rPr lang="en-US" sz="1800" dirty="0"/>
              <a:t> is a bike-share program that has more than 5800 bicycles and 600 docking stations in Chicago </a:t>
            </a:r>
            <a:endParaRPr dirty="0"/>
          </a:p>
          <a:p>
            <a:pPr marL="285750" lvl="0" indent="-285750" algn="l" rtl="0">
              <a:spcBef>
                <a:spcPts val="960"/>
              </a:spcBef>
              <a:spcAft>
                <a:spcPts val="0"/>
              </a:spcAft>
              <a:buSzPts val="2070"/>
              <a:buChar char="•"/>
            </a:pPr>
            <a:r>
              <a:rPr lang="en-US" sz="1800" dirty="0"/>
              <a:t>The company offers its customers three biking products: electric bikes, classic bikes, and docked bikes </a:t>
            </a:r>
            <a:endParaRPr dirty="0"/>
          </a:p>
          <a:p>
            <a:pPr marL="285750" lvl="0" indent="-285750" algn="l" rtl="0">
              <a:spcBef>
                <a:spcPts val="960"/>
              </a:spcBef>
              <a:spcAft>
                <a:spcPts val="0"/>
              </a:spcAft>
              <a:buSzPts val="2070"/>
              <a:buChar char="•"/>
            </a:pPr>
            <a:r>
              <a:rPr lang="en-US" sz="1800" dirty="0"/>
              <a:t>The customer base for </a:t>
            </a:r>
            <a:r>
              <a:rPr lang="en-US" sz="1800" dirty="0" err="1"/>
              <a:t>Cyclistic</a:t>
            </a:r>
            <a:r>
              <a:rPr lang="en-US" sz="1800" dirty="0"/>
              <a:t> can be separated into two categories: casual riders and members</a:t>
            </a:r>
            <a:endParaRPr sz="1800" dirty="0"/>
          </a:p>
          <a:p>
            <a:pPr marL="742950" lvl="1" indent="-268605" algn="l" rtl="0">
              <a:spcBef>
                <a:spcPts val="960"/>
              </a:spcBef>
              <a:spcAft>
                <a:spcPts val="0"/>
              </a:spcAft>
              <a:buSzPts val="1800"/>
              <a:buChar char="•"/>
            </a:pPr>
            <a:r>
              <a:rPr lang="en-US" sz="1800" dirty="0"/>
              <a:t>Casual riders: Customers who only utilize </a:t>
            </a:r>
            <a:r>
              <a:rPr lang="en-US" sz="1800" dirty="0" err="1"/>
              <a:t>Cyclistic’s</a:t>
            </a:r>
            <a:r>
              <a:rPr lang="en-US" sz="1800" dirty="0"/>
              <a:t> single-ride or full-day passes</a:t>
            </a:r>
            <a:endParaRPr sz="1800" dirty="0"/>
          </a:p>
          <a:p>
            <a:pPr marL="742950" lvl="1" indent="-268605" algn="l" rtl="0">
              <a:spcBef>
                <a:spcPts val="960"/>
              </a:spcBef>
              <a:spcAft>
                <a:spcPts val="0"/>
              </a:spcAft>
              <a:buSzPts val="1800"/>
              <a:buChar char="•"/>
            </a:pPr>
            <a:r>
              <a:rPr lang="en-US" sz="1800" dirty="0"/>
              <a:t>Members: Customers who purchase annual memberships</a:t>
            </a:r>
            <a:endParaRPr dirty="0"/>
          </a:p>
          <a:p>
            <a:pPr marL="285750" lvl="0" indent="-285750" algn="l" rtl="0">
              <a:spcBef>
                <a:spcPts val="960"/>
              </a:spcBef>
              <a:spcAft>
                <a:spcPts val="0"/>
              </a:spcAft>
              <a:buSzPts val="2070"/>
              <a:buChar char="•"/>
            </a:pPr>
            <a:r>
              <a:rPr lang="en-US" sz="1800" dirty="0" err="1"/>
              <a:t>Cyclistic</a:t>
            </a:r>
            <a:r>
              <a:rPr lang="en-US" sz="1800" dirty="0"/>
              <a:t> has begun to focus on converting casual riders into members </a:t>
            </a:r>
            <a:r>
              <a:rPr lang="en-US" sz="1800"/>
              <a:t>since financial analysis </a:t>
            </a:r>
            <a:r>
              <a:rPr lang="en-US" sz="1800" dirty="0"/>
              <a:t>show that members are the more profitable customer segment</a:t>
            </a:r>
            <a:endParaRPr dirty="0"/>
          </a:p>
          <a:p>
            <a:pPr marL="285750" lvl="0" indent="-154305" algn="l" rtl="0">
              <a:spcBef>
                <a:spcPts val="960"/>
              </a:spcBef>
              <a:spcAft>
                <a:spcPts val="0"/>
              </a:spcAft>
              <a:buSzPts val="2070"/>
              <a:buNone/>
            </a:pPr>
            <a:endParaRPr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US"/>
              <a:t>Business Task </a:t>
            </a:r>
            <a:endParaRPr/>
          </a:p>
        </p:txBody>
      </p:sp>
      <p:sp>
        <p:nvSpPr>
          <p:cNvPr id="164" name="Google Shape;164;p3"/>
          <p:cNvSpPr txBox="1">
            <a:spLocks noGrp="1"/>
          </p:cNvSpPr>
          <p:nvPr>
            <p:ph type="body" idx="1"/>
          </p:nvPr>
        </p:nvSpPr>
        <p:spPr>
          <a:xfrm>
            <a:off x="1295402" y="2556968"/>
            <a:ext cx="9601200" cy="3716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ct val="55200"/>
              <a:buNone/>
            </a:pPr>
            <a:r>
              <a:rPr lang="en-US" sz="6800" b="1" dirty="0"/>
              <a:t>Essential Question:</a:t>
            </a:r>
            <a:r>
              <a:rPr lang="en-US" sz="6800" dirty="0"/>
              <a:t> </a:t>
            </a:r>
            <a:endParaRPr sz="6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ct val="115000"/>
              <a:buNone/>
            </a:pPr>
            <a:endParaRPr sz="6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ct val="115000"/>
              <a:buNone/>
            </a:pPr>
            <a:endParaRPr sz="6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ct val="69000"/>
              <a:buNone/>
            </a:pPr>
            <a:r>
              <a:rPr lang="en-US" sz="6800" dirty="0"/>
              <a:t>How do members and casual </a:t>
            </a:r>
            <a:r>
              <a:rPr lang="en-US" sz="6800"/>
              <a:t>riders use Cyclistic</a:t>
            </a:r>
            <a:r>
              <a:rPr lang="en-US" sz="6800" dirty="0"/>
              <a:t> bikes differently and what can be done to convert casual riders into members?</a:t>
            </a:r>
            <a:endParaRPr sz="6800" dirty="0"/>
          </a:p>
          <a:p>
            <a:pPr marL="0" lvl="0" indent="0" algn="l" rtl="0">
              <a:spcBef>
                <a:spcPts val="960"/>
              </a:spcBef>
              <a:spcAft>
                <a:spcPts val="0"/>
              </a:spcAft>
              <a:buSzPct val="115000"/>
              <a:buNone/>
            </a:pPr>
            <a:endParaRPr sz="6800" dirty="0"/>
          </a:p>
          <a:p>
            <a:pPr marL="0" lvl="0" indent="0" algn="l" rtl="0">
              <a:spcBef>
                <a:spcPts val="960"/>
              </a:spcBef>
              <a:spcAft>
                <a:spcPts val="0"/>
              </a:spcAft>
              <a:buSzPct val="55200"/>
              <a:buNone/>
            </a:pPr>
            <a:r>
              <a:rPr lang="en-US" sz="6800" b="1" dirty="0"/>
              <a:t>Key Stakeholders:        </a:t>
            </a:r>
            <a:endParaRPr sz="6800" b="1" dirty="0"/>
          </a:p>
          <a:p>
            <a:pPr marL="0" lvl="0" indent="0" algn="l" rtl="0">
              <a:spcBef>
                <a:spcPts val="960"/>
              </a:spcBef>
              <a:spcAft>
                <a:spcPts val="0"/>
              </a:spcAft>
              <a:buSzPct val="115000"/>
              <a:buNone/>
            </a:pPr>
            <a:endParaRPr sz="6800" dirty="0"/>
          </a:p>
          <a:p>
            <a:pPr marL="0" lvl="0" indent="0" algn="l" rtl="0">
              <a:spcBef>
                <a:spcPts val="960"/>
              </a:spcBef>
              <a:spcAft>
                <a:spcPts val="0"/>
              </a:spcAft>
              <a:buSzPct val="67868"/>
              <a:buNone/>
            </a:pPr>
            <a:r>
              <a:rPr lang="en-US" sz="6800" dirty="0" err="1"/>
              <a:t>Cyclistic</a:t>
            </a:r>
            <a:r>
              <a:rPr lang="en-US" sz="6800" dirty="0"/>
              <a:t> marketing team</a:t>
            </a:r>
            <a:endParaRPr sz="6800" dirty="0"/>
          </a:p>
          <a:p>
            <a:pPr marL="0" lvl="0" indent="0" algn="l" rtl="0">
              <a:spcBef>
                <a:spcPts val="960"/>
              </a:spcBef>
              <a:spcAft>
                <a:spcPts val="0"/>
              </a:spcAft>
              <a:buSzPct val="115000"/>
              <a:buNone/>
            </a:pPr>
            <a:endParaRPr sz="6800" dirty="0"/>
          </a:p>
          <a:p>
            <a:pPr marL="0" lvl="0" indent="0" algn="l" rtl="0">
              <a:spcBef>
                <a:spcPts val="960"/>
              </a:spcBef>
              <a:spcAft>
                <a:spcPts val="0"/>
              </a:spcAft>
              <a:buSzPct val="55200"/>
              <a:buNone/>
            </a:pPr>
            <a:r>
              <a:rPr lang="en-US" sz="6800" b="1" dirty="0"/>
              <a:t>Business Task: </a:t>
            </a:r>
            <a:endParaRPr sz="6800" dirty="0"/>
          </a:p>
          <a:p>
            <a:pPr marL="0" lvl="0" indent="0" algn="l" rtl="0">
              <a:spcBef>
                <a:spcPts val="960"/>
              </a:spcBef>
              <a:spcAft>
                <a:spcPts val="0"/>
              </a:spcAft>
              <a:buSzPct val="62727"/>
              <a:buNone/>
            </a:pPr>
            <a:r>
              <a:rPr lang="en-US" sz="6800" dirty="0"/>
              <a:t>Collect data on how Members and Casual Riders use the bikes and develop a strategy to covert Casual Riders into Members based on the findings. </a:t>
            </a:r>
            <a:endParaRPr sz="6800" dirty="0"/>
          </a:p>
          <a:p>
            <a:pPr marL="0" lvl="0" indent="0" algn="l" rtl="0">
              <a:spcBef>
                <a:spcPts val="960"/>
              </a:spcBef>
              <a:spcAft>
                <a:spcPts val="0"/>
              </a:spcAft>
              <a:buSzPct val="115000"/>
              <a:buNone/>
            </a:pPr>
            <a:endParaRPr sz="5600" dirty="0"/>
          </a:p>
          <a:p>
            <a:pPr marL="0" lvl="0" indent="0" algn="l" rtl="0">
              <a:spcBef>
                <a:spcPts val="960"/>
              </a:spcBef>
              <a:spcAft>
                <a:spcPts val="0"/>
              </a:spcAft>
              <a:buSzPct val="115000"/>
              <a:buNone/>
            </a:pPr>
            <a:endParaRPr sz="1800" dirty="0"/>
          </a:p>
          <a:p>
            <a:pPr marL="0" lvl="0" indent="0" algn="l" rtl="0">
              <a:spcBef>
                <a:spcPts val="960"/>
              </a:spcBef>
              <a:spcAft>
                <a:spcPts val="0"/>
              </a:spcAft>
              <a:buSzPct val="115000"/>
              <a:buNone/>
            </a:pPr>
            <a:endParaRPr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US"/>
              <a:t>Steps for Collecting Data and Analysis</a:t>
            </a:r>
            <a:endParaRPr/>
          </a:p>
        </p:txBody>
      </p:sp>
      <p:sp>
        <p:nvSpPr>
          <p:cNvPr id="170" name="Google Shape;170;p5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070"/>
              <a:buAutoNum type="arabicPeriod"/>
            </a:pPr>
            <a:r>
              <a:rPr lang="en-US" sz="1800" dirty="0"/>
              <a:t>Create a table on </a:t>
            </a:r>
            <a:r>
              <a:rPr lang="en-US" sz="1800" dirty="0" err="1"/>
              <a:t>Postgre</a:t>
            </a:r>
            <a:r>
              <a:rPr lang="en-US" sz="1800" dirty="0"/>
              <a:t> SQL with all the columns common to the 12 datasets (i.e. </a:t>
            </a:r>
            <a:r>
              <a:rPr lang="en-US" sz="1800" dirty="0" err="1"/>
              <a:t>ride_id</a:t>
            </a:r>
            <a:r>
              <a:rPr lang="en-US" sz="1800" dirty="0"/>
              <a:t>, </a:t>
            </a:r>
            <a:r>
              <a:rPr lang="en-US" sz="1800" dirty="0" err="1"/>
              <a:t>rideable_type</a:t>
            </a:r>
            <a:r>
              <a:rPr lang="en-US" sz="1800" dirty="0"/>
              <a:t>, </a:t>
            </a:r>
            <a:r>
              <a:rPr lang="en-US" sz="1800" dirty="0" err="1"/>
              <a:t>member_casual</a:t>
            </a:r>
            <a:r>
              <a:rPr lang="en-US" sz="1800" dirty="0"/>
              <a:t>) and import all the datasets into the table. 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070"/>
              <a:buAutoNum type="arabicPeriod"/>
            </a:pPr>
            <a:r>
              <a:rPr lang="en-US" sz="1800" dirty="0"/>
              <a:t>Engineer new columns using SQL such as </a:t>
            </a:r>
            <a:r>
              <a:rPr lang="en-US" sz="1800" dirty="0" err="1"/>
              <a:t>ride_length_minutes</a:t>
            </a:r>
            <a:r>
              <a:rPr lang="en-US" sz="1800" dirty="0"/>
              <a:t>, </a:t>
            </a:r>
            <a:r>
              <a:rPr lang="en-US" sz="1800" dirty="0" err="1"/>
              <a:t>month_name</a:t>
            </a:r>
            <a:r>
              <a:rPr lang="en-US" sz="1800" dirty="0"/>
              <a:t>, </a:t>
            </a:r>
            <a:r>
              <a:rPr lang="en-US" sz="1800" dirty="0" err="1"/>
              <a:t>month_number</a:t>
            </a:r>
            <a:r>
              <a:rPr lang="en-US" sz="1800" dirty="0"/>
              <a:t>, </a:t>
            </a:r>
            <a:r>
              <a:rPr lang="en-US" sz="1800" dirty="0" err="1"/>
              <a:t>day_of_week_name</a:t>
            </a:r>
            <a:r>
              <a:rPr lang="en-US" sz="1800" dirty="0"/>
              <a:t>, and </a:t>
            </a:r>
            <a:r>
              <a:rPr lang="en-US" sz="1800" dirty="0" err="1"/>
              <a:t>ride_hour</a:t>
            </a:r>
            <a:r>
              <a:rPr lang="en-US" sz="1800" dirty="0"/>
              <a:t> that make it easier to generate insights from the data. 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070"/>
              <a:buAutoNum type="arabicPeriod"/>
            </a:pPr>
            <a:r>
              <a:rPr lang="en-US" sz="1800" dirty="0"/>
              <a:t>Create and execute SQL queries that calculate monthly trip trends, trips by days of the week, average ride length, bike type usage and usage by hour of the day. 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070"/>
              <a:buAutoNum type="arabicPeriod"/>
            </a:pPr>
            <a:r>
              <a:rPr lang="en-US" sz="1800" dirty="0"/>
              <a:t>Export query outputs in csv format and use Excel to create pivot charts and tables based on them. 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070"/>
              <a:buAutoNum type="arabicPeriod"/>
            </a:pPr>
            <a:r>
              <a:rPr lang="en-US" sz="1800" dirty="0"/>
              <a:t>Draw conclusions from the findings that can be used to create business recommendations. </a:t>
            </a:r>
            <a:br>
              <a:rPr lang="en-US" sz="1800" dirty="0"/>
            </a:br>
            <a:endParaRPr sz="1800" dirty="0"/>
          </a:p>
          <a:p>
            <a:pPr marL="342900" lvl="0" indent="-211455" algn="l" rtl="0">
              <a:spcBef>
                <a:spcPts val="960"/>
              </a:spcBef>
              <a:spcAft>
                <a:spcPts val="0"/>
              </a:spcAft>
              <a:buSzPts val="2070"/>
              <a:buNone/>
            </a:pPr>
            <a:endParaRPr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US" dirty="0"/>
              <a:t>Results and Analysis Part 1 </a:t>
            </a:r>
            <a:endParaRPr dirty="0"/>
          </a:p>
        </p:txBody>
      </p:sp>
      <p:sp>
        <p:nvSpPr>
          <p:cNvPr id="176" name="Google Shape;176;p6"/>
          <p:cNvSpPr txBox="1"/>
          <p:nvPr/>
        </p:nvSpPr>
        <p:spPr>
          <a:xfrm>
            <a:off x="2675965" y="5104177"/>
            <a:ext cx="6840070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Members make more bike trips every month than casual riders. However, the number of bike trips peak during the summer months for both categories of users (August for members , July for casual riders) and is a minimum during the winter months. </a:t>
            </a:r>
            <a:endParaRPr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78A93017-A638-BF11-3C03-AA9A7B01A9F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97903190"/>
              </p:ext>
            </p:extLst>
          </p:nvPr>
        </p:nvGraphicFramePr>
        <p:xfrm>
          <a:off x="3699933" y="2506134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C37CD-A928-981C-575C-BC903527A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and Analysis Part 2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6923DA8-6AE5-1E2E-367F-2344D93EA9D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97815435"/>
              </p:ext>
            </p:extLst>
          </p:nvPr>
        </p:nvGraphicFramePr>
        <p:xfrm>
          <a:off x="3278716" y="2564979"/>
          <a:ext cx="4815417" cy="27829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40F7981-C85F-A33D-ED12-B787DF94CB47}"/>
              </a:ext>
            </a:extLst>
          </p:cNvPr>
          <p:cNvSpPr txBox="1"/>
          <p:nvPr/>
        </p:nvSpPr>
        <p:spPr>
          <a:xfrm>
            <a:off x="2743200" y="5347971"/>
            <a:ext cx="523240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Garamond" panose="02020404030301010803" pitchFamily="18" charset="0"/>
              </a:rPr>
              <a:t>While both groups of users ride the bikes most often during the weekdays, casual riders make a higher percentage of weekend trips. </a:t>
            </a:r>
          </a:p>
        </p:txBody>
      </p:sp>
    </p:spTree>
    <p:extLst>
      <p:ext uri="{BB962C8B-B14F-4D97-AF65-F5344CB8AC3E}">
        <p14:creationId xmlns:p14="http://schemas.microsoft.com/office/powerpoint/2010/main" val="3224979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4FCF2-9703-0920-FDFA-382838D4D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and Analysis Part 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23AD4C-1F4D-5D60-24E1-88D7624BC926}"/>
              </a:ext>
            </a:extLst>
          </p:cNvPr>
          <p:cNvSpPr txBox="1"/>
          <p:nvPr/>
        </p:nvSpPr>
        <p:spPr>
          <a:xfrm>
            <a:off x="3810000" y="5181256"/>
            <a:ext cx="4572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Garamond" panose="02020404030301010803" pitchFamily="18" charset="0"/>
              </a:rPr>
              <a:t>Casual riders make significantly longer trips on average, with the longest rides occurring during the summer months. Members maintain roughly the same ride length throughout.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103B7E17-99CD-0789-0C7B-E665DA4BCC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1938976"/>
              </p:ext>
            </p:extLst>
          </p:nvPr>
        </p:nvGraphicFramePr>
        <p:xfrm>
          <a:off x="3810000" y="2454989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87433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US" dirty="0"/>
              <a:t>Results and Analysis Part 4</a:t>
            </a:r>
            <a:endParaRPr dirty="0"/>
          </a:p>
        </p:txBody>
      </p:sp>
      <p:sp>
        <p:nvSpPr>
          <p:cNvPr id="183" name="Google Shape;183;p7"/>
          <p:cNvSpPr txBox="1"/>
          <p:nvPr/>
        </p:nvSpPr>
        <p:spPr>
          <a:xfrm>
            <a:off x="2426944" y="5367869"/>
            <a:ext cx="6329083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Garamond" panose="02020404030301010803" pitchFamily="18" charset="0"/>
              </a:rPr>
              <a:t>There is little difference between casual riders and annual members as far as bike type distribution is concerned. </a:t>
            </a:r>
            <a:endParaRPr sz="1600" dirty="0">
              <a:latin typeface="Garamond" panose="02020404030301010803" pitchFamily="18" charset="0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FC782C75-FF9F-1832-C099-5511BD34CFE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91662536"/>
              </p:ext>
            </p:extLst>
          </p:nvPr>
        </p:nvGraphicFramePr>
        <p:xfrm>
          <a:off x="3366770" y="2473540"/>
          <a:ext cx="4668097" cy="28943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08EC4-2A13-BECA-CB1E-933D52E4A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and Analysis Part 5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C03AB314-DA4D-8DCD-7AE2-8B65D47DA59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8216336"/>
              </p:ext>
            </p:extLst>
          </p:nvPr>
        </p:nvGraphicFramePr>
        <p:xfrm>
          <a:off x="3649134" y="25908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CB23CBD-0548-EFEB-C099-8D443D4E7FC3}"/>
              </a:ext>
            </a:extLst>
          </p:cNvPr>
          <p:cNvSpPr txBox="1"/>
          <p:nvPr/>
        </p:nvSpPr>
        <p:spPr>
          <a:xfrm>
            <a:off x="3649134" y="5191753"/>
            <a:ext cx="3869266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Garamond" panose="02020404030301010803" pitchFamily="18" charset="0"/>
              </a:rPr>
              <a:t>Members exhibit two peaks, one at around 8 am and another at around 5 pm. Casual riders exhibit only one peak at around 5 pm. </a:t>
            </a:r>
          </a:p>
        </p:txBody>
      </p:sp>
    </p:spTree>
    <p:extLst>
      <p:ext uri="{BB962C8B-B14F-4D97-AF65-F5344CB8AC3E}">
        <p14:creationId xmlns:p14="http://schemas.microsoft.com/office/powerpoint/2010/main" val="21098839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US"/>
              <a:t>Conclusion </a:t>
            </a:r>
            <a:endParaRPr/>
          </a:p>
        </p:txBody>
      </p:sp>
      <p:sp>
        <p:nvSpPr>
          <p:cNvPr id="190" name="Google Shape;190;p8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2070"/>
              <a:buChar char="•"/>
            </a:pPr>
            <a:r>
              <a:rPr lang="en-US" sz="1800" dirty="0"/>
              <a:t>There are some significant similarities and differences in how annual members and casual riders use the </a:t>
            </a:r>
            <a:r>
              <a:rPr lang="en-US" sz="1800" dirty="0" err="1"/>
              <a:t>Cyclistic</a:t>
            </a:r>
            <a:r>
              <a:rPr lang="en-US" sz="1800" dirty="0"/>
              <a:t> bikes.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2070"/>
              <a:buChar char="•"/>
            </a:pPr>
            <a:r>
              <a:rPr lang="en-US" sz="1800" dirty="0"/>
              <a:t>Similarities include the following: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070"/>
              <a:buNone/>
            </a:pPr>
            <a:r>
              <a:rPr lang="en-US" sz="1800" dirty="0"/>
              <a:t>                - Bike usage peaking in the summer months and dropping in the winter months.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070"/>
              <a:buNone/>
            </a:pPr>
            <a:r>
              <a:rPr lang="en-US" sz="1800" dirty="0"/>
              <a:t>                - Classic bike to electric bike usage being almost 50 – 50. </a:t>
            </a:r>
          </a:p>
          <a:p>
            <a:pPr marL="285750" indent="-285750">
              <a:spcBef>
                <a:spcPts val="0"/>
              </a:spcBef>
            </a:pPr>
            <a:r>
              <a:rPr lang="en-US" sz="1800" dirty="0"/>
              <a:t>Differences include the following: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                   - Casual riders use bikes more often during </a:t>
            </a:r>
            <a:r>
              <a:rPr lang="en-US" sz="1800"/>
              <a:t>the weekend.</a:t>
            </a:r>
            <a:endParaRPr lang="en-US" sz="18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                   - Casual riders make longer trips on average.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                   - Casual riders’ trip duration peaks during the summer months, members’ stay steady. </a:t>
            </a:r>
          </a:p>
          <a:p>
            <a:pPr marL="285750" indent="-285750">
              <a:spcBef>
                <a:spcPts val="0"/>
              </a:spcBef>
            </a:pPr>
            <a:r>
              <a:rPr lang="en-US" sz="1800" dirty="0"/>
              <a:t>These findings indicate that casual riders are primarily recreational users rather than commuter-focused users.</a:t>
            </a:r>
          </a:p>
          <a:p>
            <a:pPr marL="285750" indent="-285750">
              <a:spcBef>
                <a:spcPts val="0"/>
              </a:spcBef>
            </a:pPr>
            <a:r>
              <a:rPr lang="en-US" sz="1800" dirty="0" err="1"/>
              <a:t>Cyclistic</a:t>
            </a:r>
            <a:r>
              <a:rPr lang="en-US" sz="1800" dirty="0"/>
              <a:t> should therefore focus on leisure-oriented membership offerings, seasonal or weekend membership plans, and targeted summer marketing campaigns. </a:t>
            </a:r>
          </a:p>
          <a:p>
            <a:pPr marL="285750" indent="-285750">
              <a:spcBef>
                <a:spcPts val="0"/>
              </a:spcBef>
            </a:pPr>
            <a:endParaRPr lang="en-US"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070"/>
              <a:buNone/>
            </a:pPr>
            <a:endParaRPr lang="en-US"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070"/>
              <a:buNone/>
            </a:pPr>
            <a:endParaRPr lang="en-US"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070"/>
              <a:buNone/>
            </a:pPr>
            <a:endParaRPr lang="en-US"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070"/>
              <a:buNone/>
            </a:pP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US" dirty="0"/>
              <a:t>Business Recommendations</a:t>
            </a:r>
            <a:endParaRPr dirty="0"/>
          </a:p>
        </p:txBody>
      </p:sp>
      <p:sp>
        <p:nvSpPr>
          <p:cNvPr id="196" name="Google Shape;196;p9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>
              <a:spcBef>
                <a:spcPts val="0"/>
              </a:spcBef>
              <a:buAutoNum type="arabicPeriod"/>
            </a:pPr>
            <a:r>
              <a:rPr lang="en-US" sz="1800" dirty="0"/>
              <a:t> Introduce weekend-focused memberships alongside traditional annual memberships to better appeal to recreational riders.</a:t>
            </a:r>
          </a:p>
          <a:p>
            <a:pPr marL="342900" lvl="0" indent="-342900">
              <a:spcBef>
                <a:spcPts val="0"/>
              </a:spcBef>
              <a:buAutoNum type="arabicPeriod"/>
            </a:pPr>
            <a:r>
              <a:rPr lang="en-US" sz="1800" dirty="0"/>
              <a:t>Deploy targeted app and email promotions to casual riders who take frequent weekend trips, repeatedly use the same stations, or demonstrate longer ride durations.</a:t>
            </a:r>
          </a:p>
          <a:p>
            <a:pPr marL="342900" lvl="0" indent="-342900">
              <a:spcBef>
                <a:spcPts val="0"/>
              </a:spcBef>
              <a:buAutoNum type="arabicPeriod"/>
            </a:pPr>
            <a:r>
              <a:rPr lang="en-US" sz="1800" dirty="0"/>
              <a:t>Shift marketing campaigns toward recreational and leisure-oriented bike usage rather than primarily commuter-focused messaging.</a:t>
            </a:r>
          </a:p>
          <a:p>
            <a:pPr marL="342900" lvl="0" indent="-342900">
              <a:spcBef>
                <a:spcPts val="0"/>
              </a:spcBef>
              <a:buAutoNum type="arabicPeriod"/>
            </a:pPr>
            <a:r>
              <a:rPr lang="en-US" sz="1800" dirty="0"/>
              <a:t>Launch seasonal three-to-four-month membership plans during spring and summer months when casual rider activity peaks.</a:t>
            </a:r>
          </a:p>
          <a:p>
            <a:pPr marL="342900" lvl="0" indent="-342900">
              <a:spcBef>
                <a:spcPts val="0"/>
              </a:spcBef>
              <a:buAutoNum type="arabicPeriod"/>
            </a:pPr>
            <a:endParaRPr lang="en-US" sz="180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070"/>
              <a:buAutoNum type="arabicPeriod"/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US"/>
              <a:t>Data Sources Used </a:t>
            </a:r>
            <a:endParaRPr/>
          </a:p>
        </p:txBody>
      </p:sp>
      <p:sp>
        <p:nvSpPr>
          <p:cNvPr id="202" name="Google Shape;202;p4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ct val="115000"/>
              <a:buNone/>
            </a:pPr>
            <a:r>
              <a:rPr lang="en-US" sz="2200" b="0" i="0" u="sng">
                <a:solidFill>
                  <a:srgbClr val="005580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202301-divvy-tripdata.zip</a:t>
            </a:r>
            <a:endParaRPr sz="2200" b="0" i="0" u="sng">
              <a:solidFill>
                <a:srgbClr val="00558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spcBef>
                <a:spcPts val="842"/>
              </a:spcBef>
              <a:spcAft>
                <a:spcPts val="0"/>
              </a:spcAft>
              <a:buSzPct val="115000"/>
              <a:buNone/>
            </a:pPr>
            <a:r>
              <a:rPr lang="en-US" sz="2200" b="0" i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 </a:t>
            </a:r>
            <a:r>
              <a:rPr lang="en-US" sz="2200" b="0" i="0" u="sng">
                <a:solidFill>
                  <a:srgbClr val="005580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202302-divvy-tripdata.zip</a:t>
            </a:r>
            <a:endParaRPr sz="2200" u="sng">
              <a:solidFill>
                <a:srgbClr val="00558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spcBef>
                <a:spcPts val="842"/>
              </a:spcBef>
              <a:spcAft>
                <a:spcPts val="0"/>
              </a:spcAft>
              <a:buSzPct val="115000"/>
              <a:buNone/>
            </a:pPr>
            <a:r>
              <a:rPr lang="en-US" sz="2200" b="0" i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 </a:t>
            </a:r>
            <a:r>
              <a:rPr lang="en-US" sz="2200" b="0" i="0" u="sng">
                <a:solidFill>
                  <a:srgbClr val="005580"/>
                </a:solidFill>
                <a:latin typeface="Helvetica Neue"/>
                <a:ea typeface="Helvetica Neue"/>
                <a:cs typeface="Helvetica Neue"/>
                <a:sym typeface="Helvetica Neue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202303-divvy-tripdata.zip</a:t>
            </a:r>
            <a:endParaRPr sz="2200" b="0" i="0" u="sng">
              <a:solidFill>
                <a:srgbClr val="00558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spcBef>
                <a:spcPts val="842"/>
              </a:spcBef>
              <a:spcAft>
                <a:spcPts val="0"/>
              </a:spcAft>
              <a:buSzPct val="115000"/>
              <a:buNone/>
            </a:pPr>
            <a:r>
              <a:rPr lang="en-US" sz="2200" b="0" i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 </a:t>
            </a:r>
            <a:r>
              <a:rPr lang="en-US" sz="2200" b="0" i="0" u="sng">
                <a:solidFill>
                  <a:srgbClr val="005580"/>
                </a:solidFill>
                <a:latin typeface="Helvetica Neue"/>
                <a:ea typeface="Helvetica Neue"/>
                <a:cs typeface="Helvetica Neue"/>
                <a:sym typeface="Helvetica Neue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202304-divvy-tripdata.zip</a:t>
            </a:r>
            <a:endParaRPr sz="2200" b="0" i="0" u="sng">
              <a:solidFill>
                <a:srgbClr val="00558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spcBef>
                <a:spcPts val="842"/>
              </a:spcBef>
              <a:spcAft>
                <a:spcPts val="0"/>
              </a:spcAft>
              <a:buSzPct val="115000"/>
              <a:buNone/>
            </a:pPr>
            <a:r>
              <a:rPr lang="en-US" sz="2200" b="0" i="0" u="sng">
                <a:solidFill>
                  <a:srgbClr val="005580"/>
                </a:solidFill>
                <a:latin typeface="Helvetica Neue"/>
                <a:ea typeface="Helvetica Neue"/>
                <a:cs typeface="Helvetica Neue"/>
                <a:sym typeface="Helvetica Neue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202305-divvy-tripdata.zip</a:t>
            </a:r>
            <a:endParaRPr sz="2200" b="0" i="0" u="sng">
              <a:solidFill>
                <a:srgbClr val="00558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spcBef>
                <a:spcPts val="842"/>
              </a:spcBef>
              <a:spcAft>
                <a:spcPts val="0"/>
              </a:spcAft>
              <a:buSzPct val="115000"/>
              <a:buNone/>
            </a:pPr>
            <a:r>
              <a:rPr lang="en-US" sz="2200" b="0" i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 </a:t>
            </a:r>
            <a:r>
              <a:rPr lang="en-US" sz="2200" b="0" i="0" u="sng">
                <a:solidFill>
                  <a:srgbClr val="005580"/>
                </a:solidFill>
                <a:latin typeface="Helvetica Neue"/>
                <a:ea typeface="Helvetica Neue"/>
                <a:cs typeface="Helvetica Neue"/>
                <a:sym typeface="Helvetica Neue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202306-divvy-tripdata.zip</a:t>
            </a:r>
            <a:endParaRPr sz="2200" b="0" i="0" u="sng">
              <a:solidFill>
                <a:srgbClr val="00558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spcBef>
                <a:spcPts val="842"/>
              </a:spcBef>
              <a:spcAft>
                <a:spcPts val="0"/>
              </a:spcAft>
              <a:buSzPct val="115000"/>
              <a:buNone/>
            </a:pPr>
            <a:r>
              <a:rPr lang="en-US" sz="2200" b="0" i="0" u="sng">
                <a:solidFill>
                  <a:srgbClr val="005580"/>
                </a:solidFill>
                <a:latin typeface="Helvetica Neue"/>
                <a:ea typeface="Helvetica Neue"/>
                <a:cs typeface="Helvetica Neue"/>
                <a:sym typeface="Helvetica Neue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202307-divvy-tripdata.zip</a:t>
            </a:r>
            <a:endParaRPr sz="2200" b="0" i="0" u="sng">
              <a:solidFill>
                <a:srgbClr val="00558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spcBef>
                <a:spcPts val="842"/>
              </a:spcBef>
              <a:spcAft>
                <a:spcPts val="0"/>
              </a:spcAft>
              <a:buSzPct val="115000"/>
              <a:buNone/>
            </a:pPr>
            <a:r>
              <a:rPr lang="en-US" sz="2200" b="0" i="0" u="sng">
                <a:solidFill>
                  <a:srgbClr val="005580"/>
                </a:solidFill>
                <a:latin typeface="Helvetica Neue"/>
                <a:ea typeface="Helvetica Neue"/>
                <a:cs typeface="Helvetica Neue"/>
                <a:sym typeface="Helvetica Neue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202308-divvy-tripdata.zip</a:t>
            </a:r>
            <a:endParaRPr sz="2200" b="0" i="0" u="sng">
              <a:solidFill>
                <a:srgbClr val="00558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spcBef>
                <a:spcPts val="842"/>
              </a:spcBef>
              <a:spcAft>
                <a:spcPts val="0"/>
              </a:spcAft>
              <a:buSzPct val="115000"/>
              <a:buNone/>
            </a:pPr>
            <a:r>
              <a:rPr lang="en-US" sz="2200" b="0" i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 </a:t>
            </a:r>
            <a:r>
              <a:rPr lang="en-US" sz="2200" b="0" i="0" u="sng" strike="noStrike">
                <a:solidFill>
                  <a:srgbClr val="0088CC"/>
                </a:solidFill>
                <a:latin typeface="Helvetica Neue"/>
                <a:ea typeface="Helvetica Neue"/>
                <a:cs typeface="Helvetica Neue"/>
                <a:sym typeface="Helvetica Neue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202309-divvy-tripdata.zip</a:t>
            </a:r>
            <a:endParaRPr sz="2200" b="0" i="0" u="none" strike="noStrike">
              <a:solidFill>
                <a:srgbClr val="0088C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spcBef>
                <a:spcPts val="842"/>
              </a:spcBef>
              <a:spcAft>
                <a:spcPts val="0"/>
              </a:spcAft>
              <a:buSzPct val="115000"/>
              <a:buNone/>
            </a:pPr>
            <a:r>
              <a:rPr lang="en-US" sz="2200" b="0" i="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 </a:t>
            </a:r>
            <a:r>
              <a:rPr lang="en-US" sz="2200" b="0" i="0" u="sng">
                <a:solidFill>
                  <a:srgbClr val="005580"/>
                </a:solidFill>
                <a:latin typeface="Helvetica Neue"/>
                <a:ea typeface="Helvetica Neue"/>
                <a:cs typeface="Helvetica Neue"/>
                <a:sym typeface="Helvetica Neue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202310-divvy-tripdata.zip</a:t>
            </a:r>
            <a:endParaRPr sz="2200" b="0" i="0" u="sng">
              <a:solidFill>
                <a:srgbClr val="00558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spcBef>
                <a:spcPts val="842"/>
              </a:spcBef>
              <a:spcAft>
                <a:spcPts val="0"/>
              </a:spcAft>
              <a:buSzPct val="115000"/>
              <a:buNone/>
            </a:pPr>
            <a:r>
              <a:rPr lang="en-US" sz="2200" b="0" i="0" u="sng">
                <a:solidFill>
                  <a:srgbClr val="005580"/>
                </a:solidFill>
                <a:latin typeface="Helvetica Neue"/>
                <a:ea typeface="Helvetica Neue"/>
                <a:cs typeface="Helvetica Neue"/>
                <a:sym typeface="Helvetica Neue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202311-divvy-tripdata.zip</a:t>
            </a:r>
            <a:endParaRPr sz="2200" b="0" i="0" u="sng">
              <a:solidFill>
                <a:srgbClr val="00558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spcBef>
                <a:spcPts val="842"/>
              </a:spcBef>
              <a:spcAft>
                <a:spcPts val="0"/>
              </a:spcAft>
              <a:buSzPct val="115000"/>
              <a:buNone/>
            </a:pPr>
            <a:r>
              <a:rPr lang="en-US" sz="2200" b="0" i="0" u="sng">
                <a:solidFill>
                  <a:srgbClr val="005580"/>
                </a:solidFill>
                <a:latin typeface="Helvetica Neue"/>
                <a:ea typeface="Helvetica Neue"/>
                <a:cs typeface="Helvetica Neue"/>
                <a:sym typeface="Helvetica Neue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202312-divvy-tripdata.zip</a:t>
            </a:r>
            <a:endParaRPr sz="2200" b="0" i="0" u="sng">
              <a:solidFill>
                <a:srgbClr val="00558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864"/>
              </a:spcBef>
              <a:spcAft>
                <a:spcPts val="0"/>
              </a:spcAft>
              <a:buSzPct val="115000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ganic">
  <a:themeElements>
    <a:clrScheme name="Organic">
      <a:dk1>
        <a:srgbClr val="000000"/>
      </a:dk1>
      <a:lt1>
        <a:srgbClr val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808</Words>
  <Application>Microsoft Office PowerPoint</Application>
  <PresentationFormat>Widescreen</PresentationFormat>
  <Paragraphs>85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Garamond</vt:lpstr>
      <vt:lpstr>Arial</vt:lpstr>
      <vt:lpstr>Helvetica Neue</vt:lpstr>
      <vt:lpstr>Organic</vt:lpstr>
      <vt:lpstr>Cyclistic Case Study</vt:lpstr>
      <vt:lpstr>Introduction</vt:lpstr>
      <vt:lpstr>Business Task </vt:lpstr>
      <vt:lpstr>Steps for Collecting Data and Analysis</vt:lpstr>
      <vt:lpstr>Results and Analysis Part 1 </vt:lpstr>
      <vt:lpstr>Results and Analysis Part 2</vt:lpstr>
      <vt:lpstr>Results and Analysis Part 3</vt:lpstr>
      <vt:lpstr>Results and Analysis Part 4</vt:lpstr>
      <vt:lpstr>Results and Analysis Part 5</vt:lpstr>
      <vt:lpstr>Conclusion </vt:lpstr>
      <vt:lpstr>Business Recommendations</vt:lpstr>
      <vt:lpstr>Data Sources Used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Cyclistic Case Study</dc:title>
  <dc:creator>Alfred Abraham</dc:creator>
  <cp:lastModifiedBy>Alfred Abraham</cp:lastModifiedBy>
  <cp:revision>1</cp:revision>
  <dcterms:created xsi:type="dcterms:W3CDTF">2024-03-07T13:47:45Z</dcterms:created>
  <dcterms:modified xsi:type="dcterms:W3CDTF">2026-10-16T17:54:53Z</dcterms:modified>
</cp:coreProperties>
</file>